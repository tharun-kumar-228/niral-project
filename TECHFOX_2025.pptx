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0" r:id="rId2"/>
  </p:sldMasterIdLst>
  <p:notesMasterIdLst>
    <p:notesMasterId r:id="rId16"/>
  </p:notesMasterIdLst>
  <p:sldIdLst>
    <p:sldId id="266" r:id="rId3"/>
    <p:sldId id="263" r:id="rId4"/>
    <p:sldId id="296" r:id="rId5"/>
    <p:sldId id="297" r:id="rId6"/>
    <p:sldId id="287" r:id="rId7"/>
    <p:sldId id="288" r:id="rId8"/>
    <p:sldId id="289" r:id="rId9"/>
    <p:sldId id="290" r:id="rId10"/>
    <p:sldId id="291" r:id="rId11"/>
    <p:sldId id="292" r:id="rId12"/>
    <p:sldId id="294" r:id="rId13"/>
    <p:sldId id="293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3D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064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0A42B-19DA-4FFE-9B21-C548940C198B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21957-6B15-417B-A8C0-AD072B0F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1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F8618D-51AD-40EB-86A2-24DEC409AC1E}" type="datetime3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 October 2025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1-59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87D5A1-37CC-4B13-9F17-5059BEF349E4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279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3D938-9693-4047-A851-384D4F31A3B1}" type="datetime5">
              <a:rPr lang="en-US" smtClean="0"/>
              <a:t>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PERISENSE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19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5FC7-13C7-4A1D-9A27-A12F121FE3F9}" type="datetime5">
              <a:rPr lang="en-US" smtClean="0"/>
              <a:t>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PERISENSE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5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6FAC-9DD3-4BF3-951C-B12EA0A49C1C}" type="datetime5">
              <a:rPr lang="en-US" smtClean="0"/>
              <a:t>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PERISENSE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20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3089A-3847-43C3-A8FE-97C1C551E1A1}" type="datetime5">
              <a:rPr lang="en-US" smtClean="0"/>
              <a:t>4-Oct-25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PERISENSE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32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349A-0F06-4F81-8F03-5C7F16FDACBB}" type="datetime5">
              <a:rPr lang="en-US" smtClean="0"/>
              <a:t>4-Oct-25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PERISENSE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06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75EC-C1A2-4D55-AD70-5C2B6BDDCEB0}" type="datetime5">
              <a:rPr lang="en-US" smtClean="0"/>
              <a:t>4-Oct-25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PERISENSE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01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726E-3B87-48CB-B23C-39CCAC8E3119}" type="datetime5">
              <a:rPr lang="en-US" smtClean="0"/>
              <a:t>4-Oct-25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PERISENSE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0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EEDF-875C-4686-8626-8AF8583D7559}" type="datetime5">
              <a:rPr lang="en-US" smtClean="0"/>
              <a:t>4-Oct-25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PERISENSE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9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B41-7118-490A-948E-0D3E391F382A}" type="datetime5">
              <a:rPr lang="en-US" smtClean="0"/>
              <a:t>4-Oct-25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PERISENSE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61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7634-A9AA-493F-8890-1175FD13E58F}" type="datetime5">
              <a:rPr lang="en-US" smtClean="0"/>
              <a:t>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PERISENSE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4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3783-E99B-4435-9E66-322891D1EE1D}" type="datetime5">
              <a:rPr lang="en-US" smtClean="0"/>
              <a:t>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PERISENSE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33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97CD8-3785-41DE-B469-66977B4C22F4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PERISENSE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280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728717-5FE0-4676-94C4-BE51643D6F68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PERISENSE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777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FC190-636D-42CC-AE8F-CA90D064DF8E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PERISENSE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253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72EF6-7138-40C0-B18C-6D85629D89DC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PERISENSE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599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C4E4A-3CED-4C0E-9892-5E443F67FF34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PERISENSE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971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DA387-83E7-4C0E-AA6E-4A5F0CF0E704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PERISENSE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8302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FD1A4-3DDE-4946-8B2D-9DBD180C5EFD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PERISENSE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953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535AAC-D917-46D1-96D4-4546A7E93421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PERISENSE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537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228AFE-02B5-4C05-955D-C47213DD4DB0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PERISENSE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8986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A673E-08FB-4BC0-91D6-9D6EEDC2AAB8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PERISENSE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7779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E63790-4895-4C3F-BAF8-A872EA202E74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PERISENSE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4197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6CDFC1-5C9B-4F12-8A59-0102DFD1AEC9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PERISENSE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1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FFC80-6041-4432-AE1A-3F681A590A2C}" type="datetime5">
              <a:rPr lang="en-US" smtClean="0"/>
              <a:t>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PERISENSE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5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8"/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0283654-9534-4C16-AC64-A8DAF6DA04CF}" type="datetime5">
              <a:rPr lang="en-US" smtClean="0"/>
              <a:t>4-Oct-25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301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coolcoalition.org/sustainable-cooling-india/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nuffoodsspectrum.in/2025/07/01/addressing-cross-sectoral-cold-chain-challenges-in-indias-fb-industry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>
            <a:lum/>
          </a:blip>
          <a:srcRect/>
          <a:tile tx="0" ty="0" sx="100000" sy="8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Subtitle 2"/>
          <p:cNvSpPr>
            <a:spLocks noGrp="1"/>
          </p:cNvSpPr>
          <p:nvPr>
            <p:ph type="subTitle" idx="1"/>
          </p:nvPr>
        </p:nvSpPr>
        <p:spPr>
          <a:xfrm>
            <a:off x="2057400" y="3228536"/>
            <a:ext cx="7924800" cy="1953064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46200" y="-261"/>
            <a:ext cx="610809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itchFamily="18" charset="0"/>
              </a:rPr>
              <a:t>KONGU ENGINEERING COLLEGE</a:t>
            </a:r>
            <a:r>
              <a:rPr lang="en-US" b="1" dirty="0">
                <a:ln w="0"/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itchFamily="18" charset="0"/>
              </a:rPr>
              <a:t> 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b="1" dirty="0">
                <a:ln w="0"/>
                <a:solidFill>
                  <a:srgbClr val="A5C249">
                    <a:lumMod val="50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itchFamily="18" charset="0"/>
              </a:rPr>
              <a:t>PERUNDURAI ERODE-638060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300" b="1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itchFamily="18" charset="0"/>
              </a:rPr>
              <a:t>COMPUTER SCIENCE AND ENGINEERING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57896" y="1423189"/>
            <a:ext cx="7236264" cy="2890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itchFamily="18" charset="0"/>
              </a:rPr>
              <a:t>  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itchFamily="18" charset="0"/>
              </a:rPr>
              <a:t>“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itchFamily="18" charset="0"/>
              </a:rPr>
              <a:t>PERISENSE: INTELLIGENT MONITORING OF PERISHABLE GOODS USING INTERNET OF THINGS AND ARTIFICIAL INTELLIGENCE</a:t>
            </a:r>
            <a:r>
              <a:rPr lang="en-US" sz="21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itchFamily="18" charset="0"/>
              </a:rPr>
              <a:t>”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IN" sz="1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02AFFD-8CB1-4416-B227-37B6A21D8984}"/>
              </a:ext>
            </a:extLst>
          </p:cNvPr>
          <p:cNvSpPr txBox="1"/>
          <p:nvPr/>
        </p:nvSpPr>
        <p:spPr>
          <a:xfrm>
            <a:off x="4803336" y="3916859"/>
            <a:ext cx="6707944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Team Mentor: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		</a:t>
            </a:r>
            <a:r>
              <a:rPr lang="en-IN" sz="20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Dr.S</a:t>
            </a:r>
            <a:r>
              <a:rPr lang="en-I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Malliga, Professor, CSE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Team Members: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prstClr val="black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THARUNKUMAR M 23CSR228</a:t>
            </a:r>
            <a:br>
              <a:rPr lang="en-IN" b="1" dirty="0">
                <a:solidFill>
                  <a:prstClr val="black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prstClr val="black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SANTHEESH S </a:t>
            </a: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23CSR193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SANJAY KUMAR P 23CSR190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709" y="1350664"/>
            <a:ext cx="1259632" cy="151785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C0E70-8398-75D1-FC72-D40C5C132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CB27794-F781-4073-9498-5F9B33D4C312}" type="datetime5">
              <a:rPr lang="en-US" smtClean="0"/>
              <a:t>4-Oct-25</a:t>
            </a:fld>
            <a:endParaRPr lang="en-US" dirty="0"/>
          </a:p>
        </p:txBody>
      </p:sp>
    </p:spTree>
  </p:cSld>
  <p:clrMapOvr>
    <a:masterClrMapping/>
  </p:clrMapOvr>
  <p:transition spd="slow" advTm="8776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78A2C4-441F-D073-75C0-42598AF9B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840" y="-715435"/>
            <a:ext cx="10972800" cy="11430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PROBLEM STATEMENT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AE24FB-DAF4-6DAD-6BE6-67CFCB507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4824" y="669193"/>
            <a:ext cx="9956800" cy="4389437"/>
          </a:xfrm>
        </p:spPr>
        <p:txBody>
          <a:bodyPr/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might we develop a system where the temperature and humidity of perishable goods be monitored during transportation and storage to ensure product quality and minimize spoilage in the food processing industry? </a:t>
            </a:r>
            <a:endParaRPr lang="en-IN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230728-D79A-390F-B150-AEAF02A3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A55336-0906-4F8F-B779-E043696DCF53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5E5BE16-3523-44B1-C0C5-28723167C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PERISENSE</a:t>
            </a:r>
          </a:p>
        </p:txBody>
      </p:sp>
      <p:pic>
        <p:nvPicPr>
          <p:cNvPr id="18" name="Picture 17">
            <a:hlinkClick r:id="rId2"/>
            <a:extLst>
              <a:ext uri="{FF2B5EF4-FFF2-40B4-BE49-F238E27FC236}">
                <a16:creationId xmlns:a16="http://schemas.microsoft.com/office/drawing/2014/main" id="{E97A54C7-92F0-F84D-ADBD-11AEB97F7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050" y="3926682"/>
            <a:ext cx="2238857" cy="191812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C7278AB-9931-5CF0-863F-80C6CB36CDB5}"/>
              </a:ext>
            </a:extLst>
          </p:cNvPr>
          <p:cNvSpPr txBox="1"/>
          <p:nvPr/>
        </p:nvSpPr>
        <p:spPr>
          <a:xfrm>
            <a:off x="3904907" y="3926682"/>
            <a:ext cx="2844800" cy="214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 i="1" dirty="0"/>
              <a:t>Farmers in India incur nearly USD 12,520 million in post-harvest losses annually due to inadequate cold storage facilities. BASE and Empa’s ‘Your Virtual Cold Chain Assistant’ project is making sustainable cooling accessible, affordable, and an indispensable part of post-harvest management for the Indian farmer</a:t>
            </a:r>
          </a:p>
          <a:p>
            <a:pPr>
              <a:lnSpc>
                <a:spcPct val="150000"/>
              </a:lnSpc>
            </a:pPr>
            <a:endParaRPr lang="en-IN" sz="1000" i="1" dirty="0"/>
          </a:p>
        </p:txBody>
      </p:sp>
      <p:pic>
        <p:nvPicPr>
          <p:cNvPr id="11" name="Picture 10">
            <a:hlinkClick r:id="rId4"/>
            <a:extLst>
              <a:ext uri="{FF2B5EF4-FFF2-40B4-BE49-F238E27FC236}">
                <a16:creationId xmlns:a16="http://schemas.microsoft.com/office/drawing/2014/main" id="{C5053E93-CDFA-0888-73D4-14FF2FC0F4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540" y="3819197"/>
            <a:ext cx="1930400" cy="21330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1C23C6A-E471-3DD4-D93B-20F9B0ADC136}"/>
              </a:ext>
            </a:extLst>
          </p:cNvPr>
          <p:cNvSpPr txBox="1"/>
          <p:nvPr/>
        </p:nvSpPr>
        <p:spPr>
          <a:xfrm>
            <a:off x="9310983" y="3696671"/>
            <a:ext cx="2429933" cy="2071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100" b="1" i="1" dirty="0"/>
              <a:t>India produces over 400 million metric </a:t>
            </a:r>
            <a:r>
              <a:rPr lang="en-US" sz="1100" b="1" i="1" dirty="0" err="1"/>
              <a:t>tonne</a:t>
            </a:r>
            <a:r>
              <a:rPr lang="en-US" sz="1100" b="1" i="1" dirty="0"/>
              <a:t> (MT) of perishable food annually, yet 30–40 per cent of fruits and vegetables and up to 16 per cent of marine products spoil……</a:t>
            </a:r>
            <a:endParaRPr lang="en-IN" sz="1100" dirty="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466943F1-5C6E-F956-837E-2ED28F0DD06C}"/>
              </a:ext>
            </a:extLst>
          </p:cNvPr>
          <p:cNvSpPr/>
          <p:nvPr/>
        </p:nvSpPr>
        <p:spPr>
          <a:xfrm>
            <a:off x="0" y="5617"/>
            <a:ext cx="1687079" cy="1687079"/>
          </a:xfrm>
          <a:custGeom>
            <a:avLst/>
            <a:gdLst/>
            <a:ahLst/>
            <a:cxnLst/>
            <a:rect l="l" t="t" r="r" b="b"/>
            <a:pathLst>
              <a:path w="1687079" h="1687079">
                <a:moveTo>
                  <a:pt x="0" y="0"/>
                </a:moveTo>
                <a:lnTo>
                  <a:pt x="1687080" y="0"/>
                </a:lnTo>
                <a:lnTo>
                  <a:pt x="1687080" y="1687079"/>
                </a:lnTo>
                <a:lnTo>
                  <a:pt x="0" y="16870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A1199-E3C7-C6BC-4CF6-51C3EC400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65144-5544-B490-501E-B0491A59D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A55336-0906-4F8F-B779-E043696DCF53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CF849A6-83C0-0AF5-605A-50D59827F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PERISENSE</a:t>
            </a:r>
          </a:p>
        </p:txBody>
      </p:sp>
      <p:sp>
        <p:nvSpPr>
          <p:cNvPr id="10" name="Google Shape;207;p5">
            <a:extLst>
              <a:ext uri="{FF2B5EF4-FFF2-40B4-BE49-F238E27FC236}">
                <a16:creationId xmlns:a16="http://schemas.microsoft.com/office/drawing/2014/main" id="{3C85E7EB-9268-94A2-44E1-13F8EED7E7E4}"/>
              </a:ext>
            </a:extLst>
          </p:cNvPr>
          <p:cNvSpPr txBox="1">
            <a:spLocks/>
          </p:cNvSpPr>
          <p:nvPr/>
        </p:nvSpPr>
        <p:spPr>
          <a:xfrm>
            <a:off x="3989729" y="293567"/>
            <a:ext cx="4212541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3200"/>
              <a:buFont typeface="Franklin Gothic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&amp; Approach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550C8-9EEE-9544-9186-8B6DBDE1C287}"/>
              </a:ext>
            </a:extLst>
          </p:cNvPr>
          <p:cNvSpPr txBox="1"/>
          <p:nvPr/>
        </p:nvSpPr>
        <p:spPr>
          <a:xfrm>
            <a:off x="4986379" y="1214940"/>
            <a:ext cx="1929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D0D80-D397-0CB9-EE10-96F0817F34CB}"/>
              </a:ext>
            </a:extLst>
          </p:cNvPr>
          <p:cNvSpPr txBox="1"/>
          <p:nvPr/>
        </p:nvSpPr>
        <p:spPr>
          <a:xfrm>
            <a:off x="1482403" y="1615050"/>
            <a:ext cx="98296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intelligent, IoT-based solution that ensures the quality and safety of perishable goods during transportation and storage by enabling real-time monitoring, prediction, and decision-making.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F2E656-1207-144B-947D-3EDE25F5FDAA}"/>
              </a:ext>
            </a:extLst>
          </p:cNvPr>
          <p:cNvSpPr txBox="1"/>
          <p:nvPr/>
        </p:nvSpPr>
        <p:spPr>
          <a:xfrm>
            <a:off x="1688839" y="4319621"/>
            <a:ext cx="91364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of environmental conditions affecting perishables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for live status tracking by all stakeholders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alerts and optimized delivery 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Demand-supply matching through intelligent analytics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31100-8D2B-49E7-42E4-5C7DD8D2D6D4}"/>
              </a:ext>
            </a:extLst>
          </p:cNvPr>
          <p:cNvSpPr txBox="1"/>
          <p:nvPr/>
        </p:nvSpPr>
        <p:spPr>
          <a:xfrm>
            <a:off x="5139738" y="3645681"/>
            <a:ext cx="1622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IDEA </a:t>
            </a: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83809919-EB25-99ED-F602-FF98B821AC5D}"/>
              </a:ext>
            </a:extLst>
          </p:cNvPr>
          <p:cNvSpPr/>
          <p:nvPr/>
        </p:nvSpPr>
        <p:spPr>
          <a:xfrm>
            <a:off x="266181" y="148566"/>
            <a:ext cx="1687079" cy="1687079"/>
          </a:xfrm>
          <a:custGeom>
            <a:avLst/>
            <a:gdLst/>
            <a:ahLst/>
            <a:cxnLst/>
            <a:rect l="l" t="t" r="r" b="b"/>
            <a:pathLst>
              <a:path w="1687079" h="1687079">
                <a:moveTo>
                  <a:pt x="0" y="0"/>
                </a:moveTo>
                <a:lnTo>
                  <a:pt x="1687080" y="0"/>
                </a:lnTo>
                <a:lnTo>
                  <a:pt x="1687080" y="1687079"/>
                </a:lnTo>
                <a:lnTo>
                  <a:pt x="0" y="1687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16779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590D0-BB7A-0F4F-E07B-579C1F01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0B9E2-C844-F9AD-94FD-762A92B7E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A55336-0906-4F8F-B779-E043696DCF53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E5ECC3C-4C82-2094-37A9-5B672551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PERISENSE</a:t>
            </a:r>
          </a:p>
        </p:txBody>
      </p:sp>
      <p:sp>
        <p:nvSpPr>
          <p:cNvPr id="10" name="Google Shape;207;p5">
            <a:extLst>
              <a:ext uri="{FF2B5EF4-FFF2-40B4-BE49-F238E27FC236}">
                <a16:creationId xmlns:a16="http://schemas.microsoft.com/office/drawing/2014/main" id="{8C721BAB-E64F-85CD-89C5-2F4FB24FD471}"/>
              </a:ext>
            </a:extLst>
          </p:cNvPr>
          <p:cNvSpPr txBox="1">
            <a:spLocks/>
          </p:cNvSpPr>
          <p:nvPr/>
        </p:nvSpPr>
        <p:spPr>
          <a:xfrm>
            <a:off x="3989729" y="293567"/>
            <a:ext cx="4212541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3200"/>
              <a:buFont typeface="Franklin Gothic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DA78E7-BC5F-E733-DEDA-45F5EE7B041E}"/>
              </a:ext>
            </a:extLst>
          </p:cNvPr>
          <p:cNvSpPr txBox="1"/>
          <p:nvPr/>
        </p:nvSpPr>
        <p:spPr>
          <a:xfrm>
            <a:off x="1206053" y="1108870"/>
            <a:ext cx="1032387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IoT-Based Monitoring: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Design and implement a smart system that continuously monitors temperature, 			humidity, and gas emissions using sensors (DHT11, MQ6) to detect early signs of spoilage.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Cloud-Integrated Dashboard: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Develop a centralized, cloud-connected dashboard that provides real-time data visualization, alerts, 	and status updates to vendors, drivers, and customers for transparent supply chain tracking.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Spoilage Prediction: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Utilize machine learning algorithms to identify anomalies in sensor data, enabling early spoilage 	detection and predictive maintenance of cooling systems.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Logistics and Decision-Making: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Incorporate external data sources (e.g., weather APIs, maps) to enable intelligent rerouting, demand 	forecasting, and on-the-go utilization, thereby reducing wastage and ensuring timely delivery.</a:t>
            </a: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7F24ECA8-F5D5-1638-F990-FB3CC99CBE20}"/>
              </a:ext>
            </a:extLst>
          </p:cNvPr>
          <p:cNvSpPr/>
          <p:nvPr/>
        </p:nvSpPr>
        <p:spPr>
          <a:xfrm>
            <a:off x="-108397" y="0"/>
            <a:ext cx="1687079" cy="1687079"/>
          </a:xfrm>
          <a:custGeom>
            <a:avLst/>
            <a:gdLst/>
            <a:ahLst/>
            <a:cxnLst/>
            <a:rect l="l" t="t" r="r" b="b"/>
            <a:pathLst>
              <a:path w="1687079" h="1687079">
                <a:moveTo>
                  <a:pt x="0" y="0"/>
                </a:moveTo>
                <a:lnTo>
                  <a:pt x="1687080" y="0"/>
                </a:lnTo>
                <a:lnTo>
                  <a:pt x="1687080" y="1687079"/>
                </a:lnTo>
                <a:lnTo>
                  <a:pt x="0" y="1687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30538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EB31A-101A-4B2C-C83D-DE95BEB58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FD40ED-C949-CA46-8999-1AB77B3FB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2880" y="16339"/>
            <a:ext cx="10972800" cy="53594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2BAFB7C-C957-E86C-A3E8-E0506E405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4568" y="900415"/>
            <a:ext cx="7767432" cy="47152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🧪	</a:t>
            </a:r>
            <a:r>
              <a:rPr lang="en-IN" sz="20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Spoilage detection using ME3CH3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🌡️	 </a:t>
            </a:r>
            <a:r>
              <a:rPr lang="en-IN" sz="20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Temperature and Humidity Monitoring using DHT11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	</a:t>
            </a:r>
            <a:r>
              <a:rPr lang="en-IN" sz="20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Microcontroller and IoT Communication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🛠️	</a:t>
            </a:r>
            <a:r>
              <a:rPr lang="en-IN" sz="20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Backend Integration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☁️	 </a:t>
            </a:r>
            <a:r>
              <a:rPr lang="en-IN" sz="20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Dashboard &amp; Cloud Connectivity</a:t>
            </a:r>
            <a:endParaRPr lang="en-US" sz="20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	</a:t>
            </a:r>
            <a:r>
              <a:rPr lang="en-IN" sz="20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Frontend Web Application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🗺️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IN" sz="20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Map Integration ( Dynamic Routing)</a:t>
            </a:r>
            <a:endParaRPr lang="en-IN" sz="2000" dirty="0">
              <a:highlight>
                <a:srgbClr val="F1F3D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16EFCB-DA54-4E58-F599-A6A05C0A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305359-754A-412C-A25D-D654F991A4E0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FEBE9-A6CB-8F2F-98A4-9F61A551D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PERISENSE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BDB62AC-AAB6-BBAB-BF95-2BF652DEABD0}"/>
              </a:ext>
            </a:extLst>
          </p:cNvPr>
          <p:cNvSpPr/>
          <p:nvPr/>
        </p:nvSpPr>
        <p:spPr>
          <a:xfrm>
            <a:off x="266181" y="148566"/>
            <a:ext cx="1687079" cy="1687079"/>
          </a:xfrm>
          <a:custGeom>
            <a:avLst/>
            <a:gdLst/>
            <a:ahLst/>
            <a:cxnLst/>
            <a:rect l="l" t="t" r="r" b="b"/>
            <a:pathLst>
              <a:path w="1687079" h="1687079">
                <a:moveTo>
                  <a:pt x="0" y="0"/>
                </a:moveTo>
                <a:lnTo>
                  <a:pt x="1687080" y="0"/>
                </a:lnTo>
                <a:lnTo>
                  <a:pt x="1687080" y="1687079"/>
                </a:lnTo>
                <a:lnTo>
                  <a:pt x="0" y="1687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558160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28B4-93D3-6D11-BA5B-E9C874C78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0B0E73-FB0E-F6E4-8CD9-7B7A8313C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0" y="129541"/>
            <a:ext cx="10972800" cy="53594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A45FF36-D4C4-F4F4-DC39-14B20545B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768" y="828620"/>
            <a:ext cx="7767432" cy="49716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Hardware Stack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Sensors: MQ6, DHT11 </a:t>
            </a:r>
            <a:endParaRPr lang="en-US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Microcontroller: ESP8266</a:t>
            </a:r>
            <a:endParaRPr lang="en-US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Communication: Wi-Fi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Software and Cloud Stack</a:t>
            </a:r>
            <a:endParaRPr lang="en-US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Software: Embedded C</a:t>
            </a:r>
            <a:endParaRPr lang="en-US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Cloud Integration: Blynk</a:t>
            </a:r>
            <a:endParaRPr lang="en-US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External Data: OpenStreetMap API</a:t>
            </a:r>
            <a:endParaRPr lang="en-US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Dashboards: React Native UI , Leaflet</a:t>
            </a:r>
            <a:endParaRPr lang="en-US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CI/CD: For seamless updates</a:t>
            </a:r>
            <a:endParaRPr lang="en-IN" sz="2000" dirty="0">
              <a:highlight>
                <a:srgbClr val="F1F3D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82436-173D-B462-AF82-EB8192DBB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6D315B-1F4F-48FA-9B0E-D8A850E49030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5505DCA-14CA-93B8-4AD8-C99E2B3DA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PERISENSE</a:t>
            </a: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013716C1-550B-C91F-BBF5-2FFD55097A30}"/>
              </a:ext>
            </a:extLst>
          </p:cNvPr>
          <p:cNvSpPr/>
          <p:nvPr/>
        </p:nvSpPr>
        <p:spPr>
          <a:xfrm>
            <a:off x="266181" y="148566"/>
            <a:ext cx="1687079" cy="1687079"/>
          </a:xfrm>
          <a:custGeom>
            <a:avLst/>
            <a:gdLst/>
            <a:ahLst/>
            <a:cxnLst/>
            <a:rect l="l" t="t" r="r" b="b"/>
            <a:pathLst>
              <a:path w="1687079" h="1687079">
                <a:moveTo>
                  <a:pt x="0" y="0"/>
                </a:moveTo>
                <a:lnTo>
                  <a:pt x="1687080" y="0"/>
                </a:lnTo>
                <a:lnTo>
                  <a:pt x="1687080" y="1687079"/>
                </a:lnTo>
                <a:lnTo>
                  <a:pt x="0" y="1687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68067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0D5C4-F032-8410-017C-07D45DA2A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3C2B67-793B-A97D-B02A-E0FAED163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0" y="129541"/>
            <a:ext cx="10972800" cy="53594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906292-3382-B7F2-ACC1-DCECE83589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285" y="982354"/>
            <a:ext cx="6629400" cy="587564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D08EE-AA11-97B4-3750-BF148208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891795-0173-477B-93F7-98C6954C1B92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0E1AC20-CFAE-FDB8-6A34-938D6611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26370" y="6477000"/>
            <a:ext cx="1930400" cy="3810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PERISENSE</a:t>
            </a: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8D58258B-EB4B-68EB-39EA-7FF57839CEBE}"/>
              </a:ext>
            </a:extLst>
          </p:cNvPr>
          <p:cNvSpPr/>
          <p:nvPr/>
        </p:nvSpPr>
        <p:spPr>
          <a:xfrm>
            <a:off x="266181" y="148566"/>
            <a:ext cx="1687079" cy="1687079"/>
          </a:xfrm>
          <a:custGeom>
            <a:avLst/>
            <a:gdLst/>
            <a:ahLst/>
            <a:cxnLst/>
            <a:rect l="l" t="t" r="r" b="b"/>
            <a:pathLst>
              <a:path w="1687079" h="1687079">
                <a:moveTo>
                  <a:pt x="0" y="0"/>
                </a:moveTo>
                <a:lnTo>
                  <a:pt x="1687080" y="0"/>
                </a:lnTo>
                <a:lnTo>
                  <a:pt x="1687080" y="1687079"/>
                </a:lnTo>
                <a:lnTo>
                  <a:pt x="0" y="1687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357677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B73FC-50B3-F671-1619-680847DE1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EE324A-7072-9E4B-A014-5FE5C9094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0" y="129541"/>
            <a:ext cx="10972800" cy="53594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E8B91-CB91-8ACC-7FF6-7C353F55E8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1590041"/>
            <a:ext cx="3856602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blue screen with a red light on it&#10;&#10;AI-generated content may be incorrect.">
            <a:extLst>
              <a:ext uri="{FF2B5EF4-FFF2-40B4-BE49-F238E27FC236}">
                <a16:creationId xmlns:a16="http://schemas.microsoft.com/office/drawing/2014/main" id="{1A32A884-8693-A20A-6E1C-F3C642E7A1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770110" y="-49445"/>
            <a:ext cx="2292350" cy="396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8C7EC-68E4-1F05-681B-2310EFBAB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67DC80-FD87-4354-A1DB-356EB02C32A4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4FB0B02-196B-9FA6-8CA9-22D5BA62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1600" y="6477000"/>
            <a:ext cx="1930400" cy="3810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PERISENSE</a:t>
            </a:r>
          </a:p>
        </p:txBody>
      </p:sp>
      <p:sp>
        <p:nvSpPr>
          <p:cNvPr id="8" name="Freeform 8"/>
          <p:cNvSpPr/>
          <p:nvPr/>
        </p:nvSpPr>
        <p:spPr>
          <a:xfrm rot="16200000">
            <a:off x="7674855" y="3130544"/>
            <a:ext cx="2844095" cy="3607518"/>
          </a:xfrm>
          <a:custGeom>
            <a:avLst/>
            <a:gdLst/>
            <a:ahLst/>
            <a:cxnLst/>
            <a:rect l="l" t="t" r="r" b="b"/>
            <a:pathLst>
              <a:path w="4466109" h="5352560">
                <a:moveTo>
                  <a:pt x="0" y="0"/>
                </a:moveTo>
                <a:lnTo>
                  <a:pt x="4466108" y="0"/>
                </a:lnTo>
                <a:lnTo>
                  <a:pt x="4466108" y="5352560"/>
                </a:lnTo>
                <a:lnTo>
                  <a:pt x="0" y="5352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391" t="-24110" r="-28173" b="-28932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9AD4D03-87DE-B21C-7CD8-0237108F1994}"/>
              </a:ext>
            </a:extLst>
          </p:cNvPr>
          <p:cNvSpPr/>
          <p:nvPr/>
        </p:nvSpPr>
        <p:spPr>
          <a:xfrm>
            <a:off x="266181" y="148566"/>
            <a:ext cx="1687079" cy="1687079"/>
          </a:xfrm>
          <a:custGeom>
            <a:avLst/>
            <a:gdLst/>
            <a:ahLst/>
            <a:cxnLst/>
            <a:rect l="l" t="t" r="r" b="b"/>
            <a:pathLst>
              <a:path w="1687079" h="1687079">
                <a:moveTo>
                  <a:pt x="0" y="0"/>
                </a:moveTo>
                <a:lnTo>
                  <a:pt x="1687080" y="0"/>
                </a:lnTo>
                <a:lnTo>
                  <a:pt x="1687080" y="1687079"/>
                </a:lnTo>
                <a:lnTo>
                  <a:pt x="0" y="1687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791169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79D6A-19E8-8C5A-709F-38F98CFA6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5E585B-27FC-04A4-E6C5-4D8041B74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0" y="129541"/>
            <a:ext cx="10972800" cy="53594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4FF753-0226-9677-99FE-F4E77CA4F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1087037"/>
            <a:ext cx="4033803" cy="2785052"/>
          </a:xfrm>
          <a:prstGeom prst="rect">
            <a:avLst/>
          </a:prstGeom>
        </p:spPr>
      </p:pic>
      <p:pic>
        <p:nvPicPr>
          <p:cNvPr id="6" name="Picture 5" descr="A computer with a circuit board and wires&#10;&#10;AI-generated content may be incorrect.">
            <a:extLst>
              <a:ext uri="{FF2B5EF4-FFF2-40B4-BE49-F238E27FC236}">
                <a16:creationId xmlns:a16="http://schemas.microsoft.com/office/drawing/2014/main" id="{0EBA8C9C-CD25-182F-C8A7-71E35A2AA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984" y="879337"/>
            <a:ext cx="4246880" cy="2992752"/>
          </a:xfrm>
          <a:prstGeom prst="rect">
            <a:avLst/>
          </a:prstGeom>
        </p:spPr>
      </p:pic>
      <p:pic>
        <p:nvPicPr>
          <p:cNvPr id="7" name="Picture 6" descr="A computer with a keyboard and a blue screen&#10;&#10;AI-generated content may be incorrect.">
            <a:extLst>
              <a:ext uri="{FF2B5EF4-FFF2-40B4-BE49-F238E27FC236}">
                <a16:creationId xmlns:a16="http://schemas.microsoft.com/office/drawing/2014/main" id="{16941254-4077-F6A3-E5A7-F3ABBA715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960" y="4402667"/>
            <a:ext cx="4141787" cy="245533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A6499-DF8F-6A2F-7F3A-8E3780A09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7E199A-508D-4CD3-9CA4-812F2D273C13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51E7DB2-F90B-2878-4AB4-96AE711AC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17200" y="6465889"/>
            <a:ext cx="1930400" cy="3810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PERISENSE</a:t>
            </a: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1F081E04-16BA-14BA-D74B-1C2B64469767}"/>
              </a:ext>
            </a:extLst>
          </p:cNvPr>
          <p:cNvSpPr/>
          <p:nvPr/>
        </p:nvSpPr>
        <p:spPr>
          <a:xfrm>
            <a:off x="-233940" y="-178058"/>
            <a:ext cx="1687079" cy="1687079"/>
          </a:xfrm>
          <a:custGeom>
            <a:avLst/>
            <a:gdLst/>
            <a:ahLst/>
            <a:cxnLst/>
            <a:rect l="l" t="t" r="r" b="b"/>
            <a:pathLst>
              <a:path w="1687079" h="1687079">
                <a:moveTo>
                  <a:pt x="0" y="0"/>
                </a:moveTo>
                <a:lnTo>
                  <a:pt x="1687080" y="0"/>
                </a:lnTo>
                <a:lnTo>
                  <a:pt x="1687080" y="1687079"/>
                </a:lnTo>
                <a:lnTo>
                  <a:pt x="0" y="1687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37615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7D605-95E8-7EB3-31AD-0F076F853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A3A027-C8C4-598F-8E90-C35827FC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880" y="109221"/>
            <a:ext cx="10972800" cy="53594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( with driver location)</a:t>
            </a:r>
          </a:p>
        </p:txBody>
      </p:sp>
      <p:pic>
        <p:nvPicPr>
          <p:cNvPr id="4" name="Content Placeholder 3" descr="A screenshot of a map&#10;&#10;AI-generated content may be incorrect.">
            <a:extLst>
              <a:ext uri="{FF2B5EF4-FFF2-40B4-BE49-F238E27FC236}">
                <a16:creationId xmlns:a16="http://schemas.microsoft.com/office/drawing/2014/main" id="{0CF5138A-02D3-249D-DFB4-7B922D95AD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209214"/>
            <a:ext cx="10689634" cy="48553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DB233-EA10-0574-57F6-632193BB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B01FDA-D2FC-4DEE-A248-BB4A94B9F604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E4D4EA6-79A6-C220-1F30-9BDF1BCB8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66375" y="6367779"/>
            <a:ext cx="1930400" cy="3810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PERISENSE</a:t>
            </a: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57269644-EAD7-BF50-39AF-DE7E501CA330}"/>
              </a:ext>
            </a:extLst>
          </p:cNvPr>
          <p:cNvSpPr/>
          <p:nvPr/>
        </p:nvSpPr>
        <p:spPr>
          <a:xfrm>
            <a:off x="0" y="-198378"/>
            <a:ext cx="1687079" cy="1687079"/>
          </a:xfrm>
          <a:custGeom>
            <a:avLst/>
            <a:gdLst/>
            <a:ahLst/>
            <a:cxnLst/>
            <a:rect l="l" t="t" r="r" b="b"/>
            <a:pathLst>
              <a:path w="1687079" h="1687079">
                <a:moveTo>
                  <a:pt x="0" y="0"/>
                </a:moveTo>
                <a:lnTo>
                  <a:pt x="1687080" y="0"/>
                </a:lnTo>
                <a:lnTo>
                  <a:pt x="1687080" y="1687079"/>
                </a:lnTo>
                <a:lnTo>
                  <a:pt x="0" y="1687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883875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75C4C-00A0-ADC9-F513-5689B8C3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840" y="-134488"/>
            <a:ext cx="10972800" cy="67707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Canvas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F2099-C467-AEBE-B957-AEFE89F55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5EAE54-B36E-46E9-9B4A-5F69C7052E79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0514667-200D-3F0D-64B6-87D284DBBA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9960" y="1342498"/>
            <a:ext cx="5008880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hardware suppliers (e.g., sensor and microcontroller vendors)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farmers, vendors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 data providers (e.g., OpenWeatherMap API)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Mapping services (Leaflet, Google Maps API)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providers (AWS, Blynk – initially)</a:t>
            </a:r>
          </a:p>
        </p:txBody>
      </p:sp>
      <p:sp>
        <p:nvSpPr>
          <p:cNvPr id="6" name="Google Shape;207;p5">
            <a:extLst>
              <a:ext uri="{FF2B5EF4-FFF2-40B4-BE49-F238E27FC236}">
                <a16:creationId xmlns:a16="http://schemas.microsoft.com/office/drawing/2014/main" id="{1EDE3E69-8DD2-2DB6-5A02-5D92D3C582F9}"/>
              </a:ext>
            </a:extLst>
          </p:cNvPr>
          <p:cNvSpPr txBox="1">
            <a:spLocks/>
          </p:cNvSpPr>
          <p:nvPr/>
        </p:nvSpPr>
        <p:spPr>
          <a:xfrm>
            <a:off x="382192" y="679911"/>
            <a:ext cx="4364698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3200"/>
              <a:buFont typeface="Franklin Gothic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Partners</a:t>
            </a:r>
          </a:p>
        </p:txBody>
      </p:sp>
      <p:sp>
        <p:nvSpPr>
          <p:cNvPr id="10" name="Google Shape;207;p5">
            <a:extLst>
              <a:ext uri="{FF2B5EF4-FFF2-40B4-BE49-F238E27FC236}">
                <a16:creationId xmlns:a16="http://schemas.microsoft.com/office/drawing/2014/main" id="{34E528F3-EE2A-7F9D-C45A-A4B6590AC7F8}"/>
              </a:ext>
            </a:extLst>
          </p:cNvPr>
          <p:cNvSpPr txBox="1">
            <a:spLocks/>
          </p:cNvSpPr>
          <p:nvPr/>
        </p:nvSpPr>
        <p:spPr>
          <a:xfrm>
            <a:off x="6421403" y="755608"/>
            <a:ext cx="4364698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3200"/>
              <a:buFont typeface="Franklin Gothic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69EB1-B0E5-41DE-75BD-33B968BC6ABA}"/>
              </a:ext>
            </a:extLst>
          </p:cNvPr>
          <p:cNvSpPr txBox="1"/>
          <p:nvPr/>
        </p:nvSpPr>
        <p:spPr>
          <a:xfrm>
            <a:off x="6139180" y="1381041"/>
            <a:ext cx="60528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food spoilage through real-time monitoring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for spoilage or condition deviations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vehicle tracking and estimated delivery times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Easy-to-use web and mobile dashboards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trust and transparency for buyers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Demand-supply matching via vendor and buyer platform</a:t>
            </a:r>
          </a:p>
        </p:txBody>
      </p:sp>
      <p:sp>
        <p:nvSpPr>
          <p:cNvPr id="14" name="Google Shape;207;p5">
            <a:extLst>
              <a:ext uri="{FF2B5EF4-FFF2-40B4-BE49-F238E27FC236}">
                <a16:creationId xmlns:a16="http://schemas.microsoft.com/office/drawing/2014/main" id="{2A61E5FB-AAAE-C473-D05B-599016CC1447}"/>
              </a:ext>
            </a:extLst>
          </p:cNvPr>
          <p:cNvSpPr txBox="1">
            <a:spLocks/>
          </p:cNvSpPr>
          <p:nvPr/>
        </p:nvSpPr>
        <p:spPr>
          <a:xfrm>
            <a:off x="3687578" y="3429000"/>
            <a:ext cx="4364698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3200"/>
              <a:buFont typeface="Franklin Gothic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Relationship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EDA637-9A94-B3EB-998E-0C040A42A920}"/>
              </a:ext>
            </a:extLst>
          </p:cNvPr>
          <p:cNvSpPr txBox="1"/>
          <p:nvPr/>
        </p:nvSpPr>
        <p:spPr>
          <a:xfrm>
            <a:off x="4053840" y="4333433"/>
            <a:ext cx="4876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alerts and notifications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support for fleet managers and vendors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Self-service dashboard for live monitoring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system for delivery performance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access for enterprise users (future phase)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47FBA69-82C9-FFF8-54A3-5A28AA86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17200" y="6356351"/>
            <a:ext cx="1930400" cy="381000"/>
          </a:xfrm>
        </p:spPr>
        <p:txBody>
          <a:bodyPr/>
          <a:lstStyle/>
          <a:p>
            <a:pPr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0F3DF8DC-73FF-E6E1-A8E4-38FB04C4729C}"/>
              </a:ext>
            </a:extLst>
          </p:cNvPr>
          <p:cNvSpPr/>
          <p:nvPr/>
        </p:nvSpPr>
        <p:spPr>
          <a:xfrm>
            <a:off x="-124861" y="0"/>
            <a:ext cx="1687079" cy="1687079"/>
          </a:xfrm>
          <a:custGeom>
            <a:avLst/>
            <a:gdLst/>
            <a:ahLst/>
            <a:cxnLst/>
            <a:rect l="l" t="t" r="r" b="b"/>
            <a:pathLst>
              <a:path w="1687079" h="1687079">
                <a:moveTo>
                  <a:pt x="0" y="0"/>
                </a:moveTo>
                <a:lnTo>
                  <a:pt x="1687080" y="0"/>
                </a:lnTo>
                <a:lnTo>
                  <a:pt x="1687080" y="1687079"/>
                </a:lnTo>
                <a:lnTo>
                  <a:pt x="0" y="1687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17450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69E1D-CD3B-63CB-F493-A60A4C7F3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07;p5">
            <a:extLst>
              <a:ext uri="{FF2B5EF4-FFF2-40B4-BE49-F238E27FC236}">
                <a16:creationId xmlns:a16="http://schemas.microsoft.com/office/drawing/2014/main" id="{22061C6D-C5AF-9287-BF9C-6377A4EF4FD7}"/>
              </a:ext>
            </a:extLst>
          </p:cNvPr>
          <p:cNvSpPr txBox="1">
            <a:spLocks/>
          </p:cNvSpPr>
          <p:nvPr/>
        </p:nvSpPr>
        <p:spPr>
          <a:xfrm>
            <a:off x="1731302" y="798381"/>
            <a:ext cx="4364698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3200"/>
              <a:buFont typeface="Franklin Gothic"/>
              <a:buNone/>
            </a:pPr>
            <a:r>
              <a:rPr lang="en-IN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💡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5E476-25D7-07F8-1C24-5BD8724909F4}"/>
              </a:ext>
            </a:extLst>
          </p:cNvPr>
          <p:cNvSpPr txBox="1"/>
          <p:nvPr/>
        </p:nvSpPr>
        <p:spPr>
          <a:xfrm>
            <a:off x="1137207" y="1580619"/>
            <a:ext cx="6093618" cy="164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🔍 Predictive analytics for spoilage &amp; cooling system failures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🚚 Smart prioritization for fast delivery of near-spoiled goods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⚙️ Real-time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adaptive control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using actuators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🌤️ Weather-aware insights using </a:t>
            </a:r>
            <a:r>
              <a:rPr lang="en-IN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OpenWeatherMap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API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207;p5">
            <a:extLst>
              <a:ext uri="{FF2B5EF4-FFF2-40B4-BE49-F238E27FC236}">
                <a16:creationId xmlns:a16="http://schemas.microsoft.com/office/drawing/2014/main" id="{27687CB3-5D56-3FD1-199A-0C2E26E9A78D}"/>
              </a:ext>
            </a:extLst>
          </p:cNvPr>
          <p:cNvSpPr txBox="1">
            <a:spLocks/>
          </p:cNvSpPr>
          <p:nvPr/>
        </p:nvSpPr>
        <p:spPr>
          <a:xfrm>
            <a:off x="7706863" y="883106"/>
            <a:ext cx="4364698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🔥 Unique Selling Points (USPs)</a:t>
            </a:r>
            <a:endParaRPr lang="en-US" sz="2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F3BDB8-6591-6720-F07F-2C4D808939AB}"/>
              </a:ext>
            </a:extLst>
          </p:cNvPr>
          <p:cNvSpPr txBox="1"/>
          <p:nvPr/>
        </p:nvSpPr>
        <p:spPr>
          <a:xfrm>
            <a:off x="7230825" y="1510941"/>
            <a:ext cx="5316775" cy="2069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🌡️ Real-time spoilage detection &amp; control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🚛 Scalability to many vehicles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/>
              <a:t>🚚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Smart Route Optimization to prevent </a:t>
            </a:r>
            <a:r>
              <a:rPr lang="en-US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poilage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/>
              <a:t>🌐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Vendor-Customer Transparency through live    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Dashboards</a:t>
            </a:r>
          </a:p>
        </p:txBody>
      </p:sp>
      <p:sp>
        <p:nvSpPr>
          <p:cNvPr id="10" name="Google Shape;207;p5">
            <a:extLst>
              <a:ext uri="{FF2B5EF4-FFF2-40B4-BE49-F238E27FC236}">
                <a16:creationId xmlns:a16="http://schemas.microsoft.com/office/drawing/2014/main" id="{3EF25573-7316-5C86-4199-5A4792693541}"/>
              </a:ext>
            </a:extLst>
          </p:cNvPr>
          <p:cNvSpPr txBox="1">
            <a:spLocks/>
          </p:cNvSpPr>
          <p:nvPr/>
        </p:nvSpPr>
        <p:spPr>
          <a:xfrm>
            <a:off x="3913651" y="3571896"/>
            <a:ext cx="4364698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3200"/>
              <a:buFont typeface="Franklin Gothic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0D7548-68EF-5B9F-82B5-AF9A6029CA5F}"/>
              </a:ext>
            </a:extLst>
          </p:cNvPr>
          <p:cNvSpPr txBox="1"/>
          <p:nvPr/>
        </p:nvSpPr>
        <p:spPr>
          <a:xfrm>
            <a:off x="4336882" y="4279179"/>
            <a:ext cx="6186486" cy="2077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✅ Reduces food spoilage and wastage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💰 Minimizes operational costs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🔒 Ensures food safety compliance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📈 Scalable &amp; cloud-integrated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😊 Increases customer satisfaction &amp; trust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65134-526B-43DB-F294-FCF6A36A7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BC766B-E39D-4091-AF3B-DDFA4EF8B9F3}" type="datetime5">
              <a:rPr lang="en-US" smtClean="0"/>
              <a:t>4-Oct-25</a:t>
            </a:fld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BA926857-F63D-16AC-FE2B-38EC182C8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17200" y="6511186"/>
            <a:ext cx="1930400" cy="3810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PERISENSE</a:t>
            </a:r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C1E6350B-6442-ACFA-4FA0-5DB0ED2E46D0}"/>
              </a:ext>
            </a:extLst>
          </p:cNvPr>
          <p:cNvSpPr/>
          <p:nvPr/>
        </p:nvSpPr>
        <p:spPr>
          <a:xfrm>
            <a:off x="82331" y="39567"/>
            <a:ext cx="1687079" cy="1687079"/>
          </a:xfrm>
          <a:custGeom>
            <a:avLst/>
            <a:gdLst/>
            <a:ahLst/>
            <a:cxnLst/>
            <a:rect l="l" t="t" r="r" b="b"/>
            <a:pathLst>
              <a:path w="1687079" h="1687079">
                <a:moveTo>
                  <a:pt x="0" y="0"/>
                </a:moveTo>
                <a:lnTo>
                  <a:pt x="1687080" y="0"/>
                </a:lnTo>
                <a:lnTo>
                  <a:pt x="1687080" y="1687079"/>
                </a:lnTo>
                <a:lnTo>
                  <a:pt x="0" y="1687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664425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1480-E396-2747-F2E4-751EB3F2E796}"/>
              </a:ext>
            </a:extLst>
          </p:cNvPr>
          <p:cNvSpPr txBox="1">
            <a:spLocks/>
          </p:cNvSpPr>
          <p:nvPr/>
        </p:nvSpPr>
        <p:spPr>
          <a:xfrm>
            <a:off x="2130388" y="2577058"/>
            <a:ext cx="7931224" cy="851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66DC6-710B-3FF5-3C9A-C8BF0EF8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58223-EF19-4BD7-8E0A-C683E9895625}" type="datetime5">
              <a:rPr lang="en-US" smtClean="0"/>
              <a:t>4-Oct-25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0D815-3EA2-6BB7-AB98-D3AC1A21D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PERISENSE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5348A-5814-D5CA-A8A5-B5982C26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02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06"/>
    </mc:Choice>
    <mc:Fallback xmlns="">
      <p:transition spd="slow" advTm="3806"/>
    </mc:Fallback>
  </mc:AlternateContent>
  <p:extLst>
    <p:ext uri="{3A86A75C-4F4B-4683-9AE1-C65F6400EC91}">
      <p14:laserTraceLst xmlns:p14="http://schemas.microsoft.com/office/powerpoint/2010/main">
        <p14:tracePtLst>
          <p14:tracePt t="1378" x="7043738" y="4764088"/>
          <p14:tracePt t="1387" x="6991350" y="4764088"/>
          <p14:tracePt t="1393" x="6916738" y="4749800"/>
          <p14:tracePt t="1408" x="6665913" y="4652963"/>
          <p14:tracePt t="1411" x="6451600" y="4535488"/>
          <p14:tracePt t="1427" x="6096000" y="4305300"/>
          <p14:tracePt t="1442" x="5756275" y="4121150"/>
          <p14:tracePt t="1458" x="5511800" y="4024313"/>
          <p14:tracePt t="1462" x="5400675" y="3987800"/>
          <p14:tracePt t="1476" x="5170488" y="3913188"/>
          <p14:tracePt t="1493" x="4927600" y="3802063"/>
          <p14:tracePt t="1497" x="4778375" y="3721100"/>
          <p14:tracePt t="1510" x="4446588" y="3551238"/>
          <p14:tracePt t="1527" x="4046538" y="3373438"/>
          <p14:tracePt t="1543" x="3595688" y="3189288"/>
          <p14:tracePt t="1547" x="3381375" y="3084513"/>
          <p14:tracePt t="1551" x="3173413" y="3003550"/>
          <p14:tracePt t="1559" x="2959100" y="2900363"/>
          <p14:tracePt t="1576" x="2514600" y="2730500"/>
          <p14:tracePt t="1581" x="2308225" y="2647950"/>
          <p14:tracePt t="1594" x="1857375" y="2455863"/>
          <p14:tracePt t="1610" x="1449388" y="2249488"/>
          <p14:tracePt t="1616" x="1279525" y="2152650"/>
          <p14:tracePt t="1625" x="1176338" y="2079625"/>
          <p14:tracePt t="1644" x="962025" y="1946275"/>
          <p14:tracePt t="1658" x="909638" y="1901825"/>
          <p14:tracePt t="1664" x="895350" y="1879600"/>
          <p14:tracePt t="1674" x="887413" y="1863725"/>
          <p14:tracePt t="2013" x="792163" y="1790700"/>
          <p14:tracePt t="2019" x="665163" y="1649413"/>
          <p14:tracePt t="2026" x="533400" y="1493838"/>
          <p14:tracePt t="2043" x="355600" y="1265238"/>
          <p14:tracePt t="2060" x="250825" y="1117600"/>
          <p14:tracePt t="2063" x="214313" y="1050925"/>
          <p14:tracePt t="2076" x="155575" y="954088"/>
          <p14:tracePt t="2092" x="125413" y="873125"/>
          <p14:tracePt t="2110" x="103188" y="820738"/>
          <p14:tracePt t="2113" x="88900" y="798513"/>
          <p14:tracePt t="2128" x="80963" y="762000"/>
          <p14:tracePt t="2143" x="74613" y="731838"/>
          <p14:tracePt t="2147" x="66675" y="717550"/>
          <p14:tracePt t="2158" x="66675" y="709613"/>
          <p14:tracePt t="2162" x="58738" y="695325"/>
          <p14:tracePt t="2175" x="52388" y="687388"/>
          <p14:tracePt t="2191" x="52388" y="665163"/>
          <p14:tracePt t="2196" x="44450" y="665163"/>
          <p14:tracePt t="2211" x="44450" y="642938"/>
          <p14:tracePt t="2228" x="36513" y="620713"/>
          <p14:tracePt t="2230" x="30163" y="606425"/>
          <p14:tracePt t="2243" x="22225" y="555625"/>
          <p14:tracePt t="2259" x="22225" y="503238"/>
          <p14:tracePt t="2277" x="14288" y="436563"/>
          <p14:tracePt t="2281" x="7938" y="406400"/>
        </p14:tracePtLst>
      </p14:laserTraceLst>
    </p:ext>
  </p:extLst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4363</TotalTime>
  <Words>738</Words>
  <Application>Microsoft Office PowerPoint</Application>
  <PresentationFormat>Widescreen</PresentationFormat>
  <Paragraphs>121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Franklin Gothic</vt:lpstr>
      <vt:lpstr>Symbol</vt:lpstr>
      <vt:lpstr>Times New Roman</vt:lpstr>
      <vt:lpstr>Wingdings</vt:lpstr>
      <vt:lpstr>Wingdings 2</vt:lpstr>
      <vt:lpstr>Office Theme</vt:lpstr>
      <vt:lpstr>Flow</vt:lpstr>
      <vt:lpstr>PowerPoint Presentation</vt:lpstr>
      <vt:lpstr>PROBLEM STATEMENT </vt:lpstr>
      <vt:lpstr>PowerPoint Presentation</vt:lpstr>
      <vt:lpstr>PowerPoint Presentation</vt:lpstr>
      <vt:lpstr>Methodology </vt:lpstr>
      <vt:lpstr>Technology </vt:lpstr>
      <vt:lpstr>Circuit Diagram</vt:lpstr>
      <vt:lpstr>Design Model</vt:lpstr>
      <vt:lpstr>Dashboard</vt:lpstr>
      <vt:lpstr>Dashboard ( with driver location)</vt:lpstr>
      <vt:lpstr>Business Canvas Model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Grande Challenge</dc:title>
  <dc:creator>MHRD Innovation Cell</dc:creator>
  <cp:lastModifiedBy>THARUNKUMAR</cp:lastModifiedBy>
  <cp:revision>62</cp:revision>
  <dcterms:created xsi:type="dcterms:W3CDTF">2023-09-12T06:40:20Z</dcterms:created>
  <dcterms:modified xsi:type="dcterms:W3CDTF">2025-10-04T04:15:11Z</dcterms:modified>
</cp:coreProperties>
</file>